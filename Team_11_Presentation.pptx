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libri (MS) Bold" charset="1" panose="020F0702030404030204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" charset="1" panose="020F05020202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1280160"/>
            <a:ext cx="16093440" cy="3657600"/>
            <a:chOff x="0" y="0"/>
            <a:chExt cx="21457920" cy="487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21457920" cy="504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199"/>
                </a:lnSpc>
              </a:pPr>
              <a:r>
                <a:rPr lang="en-US" b="true" sz="8499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Analysis &amp;</a:t>
              </a:r>
            </a:p>
            <a:p>
              <a:pPr algn="ctr">
                <a:lnSpc>
                  <a:spcPts val="10199"/>
                </a:lnSpc>
              </a:pPr>
              <a:r>
                <a:rPr lang="en-US" b="true" sz="8499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Prediction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5120640"/>
            <a:ext cx="16093440" cy="914400"/>
            <a:chOff x="0" y="0"/>
            <a:chExt cx="2145792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4579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1B3A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Recipe Reviews - Sentiment Analysis and Rating Prediction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6400800"/>
            <a:ext cx="5669280" cy="804672"/>
            <a:chOff x="0" y="0"/>
            <a:chExt cx="755904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59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6473952"/>
            <a:ext cx="5669280" cy="658368"/>
            <a:chOff x="0" y="0"/>
            <a:chExt cx="755904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Skanda P  (CS24BT045)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03136" y="6400800"/>
            <a:ext cx="5669280" cy="804672"/>
            <a:chOff x="0" y="0"/>
            <a:chExt cx="7559040" cy="1072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59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03136" y="6473952"/>
            <a:ext cx="5669280" cy="658368"/>
            <a:chOff x="0" y="0"/>
            <a:chExt cx="7559040" cy="8778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Krish Gupta  (CS24BT038)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91872" y="6400800"/>
            <a:ext cx="5669280" cy="804672"/>
            <a:chOff x="0" y="0"/>
            <a:chExt cx="7559040" cy="10728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59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91872" y="6473952"/>
            <a:ext cx="5669280" cy="658368"/>
            <a:chOff x="0" y="0"/>
            <a:chExt cx="755904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Shashikant Patel  (IS24BM045)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7461504"/>
            <a:ext cx="5669280" cy="804672"/>
            <a:chOff x="0" y="0"/>
            <a:chExt cx="7559040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7534656"/>
            <a:ext cx="5669280" cy="658368"/>
            <a:chOff x="0" y="0"/>
            <a:chExt cx="7559040" cy="8778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Tanveer Rafiq Shaik  (MC24BT014)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03136" y="7461504"/>
            <a:ext cx="5669280" cy="804672"/>
            <a:chOff x="0" y="0"/>
            <a:chExt cx="7559040" cy="1072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03136" y="7534656"/>
            <a:ext cx="5669280" cy="658368"/>
            <a:chOff x="0" y="0"/>
            <a:chExt cx="755904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Palakurthy Shyam Praveen  (CS24BT039)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9418320"/>
            <a:ext cx="16459200" cy="640080"/>
            <a:chOff x="0" y="0"/>
            <a:chExt cx="219456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B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Supervisor: Deepan Raj  |  Department of CSE  |  IIT Dharwad  |  April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682496"/>
            <a:ext cx="17647920" cy="2340864"/>
            <a:chOff x="0" y="0"/>
            <a:chExt cx="23530560" cy="31211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530561" cy="3121152"/>
            </a:xfrm>
            <a:custGeom>
              <a:avLst/>
              <a:gdLst/>
              <a:ahLst/>
              <a:cxnLst/>
              <a:rect r="r" b="b" t="t" l="l"/>
              <a:pathLst>
                <a:path h="3121152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02336" y="1682496"/>
            <a:ext cx="1371600" cy="2340864"/>
            <a:chOff x="0" y="0"/>
            <a:chExt cx="1828800" cy="3121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" cy="3121152"/>
            </a:xfrm>
            <a:custGeom>
              <a:avLst/>
              <a:gdLst/>
              <a:ahLst/>
              <a:cxnLst/>
              <a:rect r="r" b="b" t="t" l="l"/>
              <a:pathLst>
                <a:path h="31211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02336" y="2231136"/>
            <a:ext cx="1371600" cy="1188720"/>
            <a:chOff x="0" y="0"/>
            <a:chExt cx="1828800" cy="1584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96" t="0" r="-6119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828800" cy="1670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11680" y="1865376"/>
            <a:ext cx="15544800" cy="694944"/>
            <a:chOff x="0" y="0"/>
            <a:chExt cx="207264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726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Classification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11680" y="2633472"/>
            <a:ext cx="15544800" cy="1280160"/>
            <a:chOff x="0" y="0"/>
            <a:chExt cx="20726400" cy="1706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7264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Logistic Regression, SVM, and LSTM with Word Embeddings on a 3-class (Negative / Neutral / Positive) problem derived from star ratings.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2336" y="4334256"/>
            <a:ext cx="17647920" cy="2340864"/>
            <a:chOff x="0" y="0"/>
            <a:chExt cx="23530560" cy="31211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530561" cy="3121152"/>
            </a:xfrm>
            <a:custGeom>
              <a:avLst/>
              <a:gdLst/>
              <a:ahLst/>
              <a:cxnLst/>
              <a:rect r="r" b="b" t="t" l="l"/>
              <a:pathLst>
                <a:path h="3121152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2336" y="4334256"/>
            <a:ext cx="1371600" cy="2340864"/>
            <a:chOff x="0" y="0"/>
            <a:chExt cx="1828800" cy="31211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28800" cy="3121152"/>
            </a:xfrm>
            <a:custGeom>
              <a:avLst/>
              <a:gdLst/>
              <a:ahLst/>
              <a:cxnLst/>
              <a:rect r="r" b="b" t="t" l="l"/>
              <a:pathLst>
                <a:path h="31211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7A58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02336" y="4882896"/>
            <a:ext cx="1371600" cy="1188720"/>
            <a:chOff x="0" y="0"/>
            <a:chExt cx="1828800" cy="158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2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96" t="0" r="-6119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1828800" cy="1670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11680" y="4517136"/>
            <a:ext cx="15544800" cy="694944"/>
            <a:chOff x="0" y="0"/>
            <a:chExt cx="2072640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0726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Prediction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11680" y="5285232"/>
            <a:ext cx="15544800" cy="1280160"/>
            <a:chOff x="0" y="0"/>
            <a:chExt cx="20726400" cy="1706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07264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regression algorithms to predict the exact numerical star score (1–5) from review text and structured metadata.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02336" y="6986016"/>
            <a:ext cx="17647920" cy="2340864"/>
            <a:chOff x="0" y="0"/>
            <a:chExt cx="23530560" cy="31211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530561" cy="3121152"/>
            </a:xfrm>
            <a:custGeom>
              <a:avLst/>
              <a:gdLst/>
              <a:ahLst/>
              <a:cxnLst/>
              <a:rect r="r" b="b" t="t" l="l"/>
              <a:pathLst>
                <a:path h="3121152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02336" y="6986016"/>
            <a:ext cx="1371600" cy="2340864"/>
            <a:chOff x="0" y="0"/>
            <a:chExt cx="1828800" cy="31211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28800" cy="3121152"/>
            </a:xfrm>
            <a:custGeom>
              <a:avLst/>
              <a:gdLst/>
              <a:ahLst/>
              <a:cxnLst/>
              <a:rect r="r" b="b" t="t" l="l"/>
              <a:pathLst>
                <a:path h="31211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02336" y="7534656"/>
            <a:ext cx="1371600" cy="1188720"/>
            <a:chOff x="0" y="0"/>
            <a:chExt cx="1828800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28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96" t="0" r="-6119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1828800" cy="1670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11680" y="7168896"/>
            <a:ext cx="15544800" cy="694944"/>
            <a:chOff x="0" y="0"/>
            <a:chExt cx="2072640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72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849" r="0" b="-38584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7264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&amp; Error Analysis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011680" y="7936992"/>
            <a:ext cx="15544800" cy="1280160"/>
            <a:chOff x="0" y="0"/>
            <a:chExt cx="20726400" cy="1706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7264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the relationship between sentiment labels and predicted ratings. Identify misclassified examples and when the two tasks disagree.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 &amp; 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792224"/>
            <a:ext cx="8595360" cy="3383280"/>
            <a:chOff x="0" y="0"/>
            <a:chExt cx="11460480" cy="4511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04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8368" y="2011680"/>
            <a:ext cx="8046720" cy="768096"/>
            <a:chOff x="0" y="0"/>
            <a:chExt cx="1072896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72896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💬  Task 1 — Sentiment Classification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8368" y="2852928"/>
            <a:ext cx="8046720" cy="2011680"/>
            <a:chOff x="0" y="0"/>
            <a:chExt cx="10728960" cy="2682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7289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AF0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 each review to Negative, Neutral, or Positive using three competing models.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63456" y="1792224"/>
            <a:ext cx="8595360" cy="3383280"/>
            <a:chOff x="0" y="0"/>
            <a:chExt cx="11460480" cy="451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604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7A58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19488" y="2011680"/>
            <a:ext cx="8046720" cy="768096"/>
            <a:chOff x="0" y="0"/>
            <a:chExt cx="10728960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72896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⭐  Task 2 — Rating Prediction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19488" y="2852928"/>
            <a:ext cx="8046720" cy="2011680"/>
            <a:chOff x="0" y="0"/>
            <a:chExt cx="10728960" cy="2682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7289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AF0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 numerical star rating (1–5) from text and metadata using regression.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02336" y="5632704"/>
            <a:ext cx="8595360" cy="3383280"/>
            <a:chOff x="0" y="0"/>
            <a:chExt cx="11460480" cy="4511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604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5D6D7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" y="5852160"/>
            <a:ext cx="8046720" cy="768096"/>
            <a:chOff x="0" y="0"/>
            <a:chExt cx="1072896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72896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 Goal — Efficient and Fast Pipeline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8368" y="6693408"/>
            <a:ext cx="8046720" cy="2011680"/>
            <a:chOff x="0" y="0"/>
            <a:chExt cx="10728960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7289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AF0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a practical, interpretable pipeline that runs end-to-end on CPU without GPU infrastructure.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63456" y="5632704"/>
            <a:ext cx="8595360" cy="3383280"/>
            <a:chOff x="0" y="0"/>
            <a:chExt cx="11460480" cy="4511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460480" cy="4511040"/>
            </a:xfrm>
            <a:custGeom>
              <a:avLst/>
              <a:gdLst/>
              <a:ahLst/>
              <a:cxnLst/>
              <a:rect r="r" b="b" t="t" l="l"/>
              <a:pathLst>
                <a:path h="451104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19488" y="5852160"/>
            <a:ext cx="8046720" cy="768096"/>
            <a:chOff x="0" y="0"/>
            <a:chExt cx="1072896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72896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Challenge — Class Imbalance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19488" y="6693408"/>
            <a:ext cx="8046720" cy="2011680"/>
            <a:chOff x="0" y="0"/>
            <a:chExt cx="10728960" cy="2682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728960" cy="2720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AF0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~94% reviews are Positive. Minority Negative &amp; Neutral classes demand special handling.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Description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96647"/>
            <a:ext cx="4048763" cy="2037083"/>
            <a:chOff x="0" y="0"/>
            <a:chExt cx="5398351" cy="2716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99131"/>
                  </a:lnTo>
                  <a:cubicBezTo>
                    <a:pt x="5398262" y="2708529"/>
                    <a:pt x="5390642" y="2716022"/>
                    <a:pt x="53813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381371" y="2682240"/>
                  </a:lnTo>
                  <a:lnTo>
                    <a:pt x="5381371" y="2699131"/>
                  </a:lnTo>
                  <a:lnTo>
                    <a:pt x="5364480" y="26991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19072"/>
            <a:ext cx="4023360" cy="1126540"/>
            <a:chOff x="0" y="0"/>
            <a:chExt cx="5364480" cy="15020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502052"/>
            </a:xfrm>
            <a:custGeom>
              <a:avLst/>
              <a:gdLst/>
              <a:ahLst/>
              <a:cxnLst/>
              <a:rect r="r" b="b" t="t" l="l"/>
              <a:pathLst>
                <a:path h="15020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02052"/>
                  </a:lnTo>
                  <a:lnTo>
                    <a:pt x="0" y="15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364480" cy="1616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18,037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735885"/>
            <a:ext cx="4023360" cy="764438"/>
            <a:chOff x="0" y="0"/>
            <a:chExt cx="5364480" cy="10192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019250"/>
            </a:xfrm>
            <a:custGeom>
              <a:avLst/>
              <a:gdLst/>
              <a:ahLst/>
              <a:cxnLst/>
              <a:rect r="r" b="b" t="t" l="l"/>
              <a:pathLst>
                <a:path h="101925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19250"/>
                  </a:lnTo>
                  <a:lnTo>
                    <a:pt x="0" y="1019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64480" cy="10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42183" y="1596647"/>
            <a:ext cx="4048763" cy="2037083"/>
            <a:chOff x="0" y="0"/>
            <a:chExt cx="5398351" cy="2716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8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99131"/>
                  </a:lnTo>
                  <a:cubicBezTo>
                    <a:pt x="5398262" y="2708529"/>
                    <a:pt x="5390642" y="2716022"/>
                    <a:pt x="53813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381371" y="2682240"/>
                  </a:lnTo>
                  <a:lnTo>
                    <a:pt x="5381371" y="2699131"/>
                  </a:lnTo>
                  <a:lnTo>
                    <a:pt x="5364480" y="26991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754880" y="1719072"/>
            <a:ext cx="4023360" cy="1126541"/>
            <a:chOff x="0" y="0"/>
            <a:chExt cx="5364480" cy="15020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1502053"/>
            </a:xfrm>
            <a:custGeom>
              <a:avLst/>
              <a:gdLst/>
              <a:ahLst/>
              <a:cxnLst/>
              <a:rect r="r" b="b" t="t" l="l"/>
              <a:pathLst>
                <a:path h="150205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02053"/>
                  </a:lnTo>
                  <a:lnTo>
                    <a:pt x="0" y="15020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364480" cy="16163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16,484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54880" y="2735885"/>
            <a:ext cx="4023360" cy="764438"/>
            <a:chOff x="0" y="0"/>
            <a:chExt cx="5364480" cy="10192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1019251"/>
            </a:xfrm>
            <a:custGeom>
              <a:avLst/>
              <a:gdLst/>
              <a:ahLst/>
              <a:cxnLst/>
              <a:rect r="r" b="b" t="t" l="l"/>
              <a:pathLst>
                <a:path h="101925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19251"/>
                  </a:lnTo>
                  <a:lnTo>
                    <a:pt x="0" y="10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364480" cy="10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Cleaning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1303" y="1596647"/>
            <a:ext cx="4048763" cy="2037083"/>
            <a:chOff x="0" y="0"/>
            <a:chExt cx="5398351" cy="27161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99131"/>
                  </a:lnTo>
                  <a:cubicBezTo>
                    <a:pt x="5398262" y="2708529"/>
                    <a:pt x="5390642" y="2716022"/>
                    <a:pt x="53813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381371" y="2682240"/>
                  </a:lnTo>
                  <a:lnTo>
                    <a:pt x="5381371" y="2699131"/>
                  </a:lnTo>
                  <a:lnTo>
                    <a:pt x="5364480" y="26991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0" y="1719072"/>
            <a:ext cx="4023360" cy="1126541"/>
            <a:chOff x="0" y="0"/>
            <a:chExt cx="5364480" cy="15020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502053"/>
            </a:xfrm>
            <a:custGeom>
              <a:avLst/>
              <a:gdLst/>
              <a:ahLst/>
              <a:cxnLst/>
              <a:rect r="r" b="b" t="t" l="l"/>
              <a:pathLst>
                <a:path h="1502053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02053"/>
                  </a:lnTo>
                  <a:lnTo>
                    <a:pt x="0" y="15020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364480" cy="16163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1,516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0" y="2735885"/>
            <a:ext cx="4023360" cy="764438"/>
            <a:chOff x="0" y="0"/>
            <a:chExt cx="5364480" cy="10192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1019251"/>
            </a:xfrm>
            <a:custGeom>
              <a:avLst/>
              <a:gdLst/>
              <a:ahLst/>
              <a:cxnLst/>
              <a:rect r="r" b="b" t="t" l="l"/>
              <a:pathLst>
                <a:path h="101925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19251"/>
                  </a:lnTo>
                  <a:lnTo>
                    <a:pt x="0" y="10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64480" cy="10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Removed Rows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0423" y="1596647"/>
            <a:ext cx="4048763" cy="2037083"/>
            <a:chOff x="0" y="0"/>
            <a:chExt cx="5398351" cy="2716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2716022"/>
            </a:xfrm>
            <a:custGeom>
              <a:avLst/>
              <a:gdLst/>
              <a:ahLst/>
              <a:cxnLst/>
              <a:rect r="r" b="b" t="t" l="l"/>
              <a:pathLst>
                <a:path h="27160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699131"/>
                  </a:lnTo>
                  <a:cubicBezTo>
                    <a:pt x="5398262" y="2708529"/>
                    <a:pt x="5390642" y="2716022"/>
                    <a:pt x="53813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381371" y="2682240"/>
                  </a:lnTo>
                  <a:lnTo>
                    <a:pt x="5381371" y="2699131"/>
                  </a:lnTo>
                  <a:lnTo>
                    <a:pt x="5364480" y="26991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533120" y="1719072"/>
            <a:ext cx="4023360" cy="1126540"/>
            <a:chOff x="0" y="0"/>
            <a:chExt cx="5364480" cy="150205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502052"/>
            </a:xfrm>
            <a:custGeom>
              <a:avLst/>
              <a:gdLst/>
              <a:ahLst/>
              <a:cxnLst/>
              <a:rect r="r" b="b" t="t" l="l"/>
              <a:pathLst>
                <a:path h="15020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02052"/>
                  </a:lnTo>
                  <a:lnTo>
                    <a:pt x="0" y="15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364480" cy="1616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– 5 Stars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33120" y="2735885"/>
            <a:ext cx="4023360" cy="764438"/>
            <a:chOff x="0" y="0"/>
            <a:chExt cx="5364480" cy="10192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1019251"/>
            </a:xfrm>
            <a:custGeom>
              <a:avLst/>
              <a:gdLst/>
              <a:ahLst/>
              <a:cxnLst/>
              <a:rect r="r" b="b" t="t" l="l"/>
              <a:pathLst>
                <a:path h="101925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19251"/>
                  </a:lnTo>
                  <a:lnTo>
                    <a:pt x="0" y="10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64480" cy="10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Rating Scale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02336" y="3895344"/>
            <a:ext cx="17647920" cy="640080"/>
            <a:chOff x="0" y="0"/>
            <a:chExt cx="2353056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530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30" r="0" b="-4872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35305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Source: Recipe Reviews and User Feedback Dataset — UCI Machine Learning Repository</a:t>
              </a:r>
            </a:p>
          </p:txBody>
        </p:sp>
      </p:grpSp>
      <p:graphicFrame>
        <p:nvGraphicFramePr>
          <p:cNvPr name="Table 56" id="56"/>
          <p:cNvGraphicFramePr>
            <a:graphicFrameLocks noGrp="true"/>
          </p:cNvGraphicFramePr>
          <p:nvPr/>
        </p:nvGraphicFramePr>
        <p:xfrm>
          <a:off x="402336" y="4718304"/>
          <a:ext cx="17627600" cy="4673600"/>
        </p:xfrm>
        <a:graphic>
          <a:graphicData uri="http://schemas.openxmlformats.org/drawingml/2006/table">
            <a:tbl>
              <a:tblPr/>
              <a:tblGrid>
                <a:gridCol w="4026712"/>
                <a:gridCol w="10392655"/>
                <a:gridCol w="3208233"/>
              </a:tblGrid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Feature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text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Raw review text written by the user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Text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User-given rating on a 1–5 scale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best_score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Aggregate review quality indicator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Float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user_reputation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Reputation score of the reviewer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reply_count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 of replies the review received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thumbs_up/down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Community feedback vote counts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created_at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Review timestamp (used for temporal features)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7" id="57"/>
          <p:cNvGrpSpPr/>
          <p:nvPr/>
        </p:nvGrpSpPr>
        <p:grpSpPr>
          <a:xfrm rot="0">
            <a:off x="402336" y="9235440"/>
            <a:ext cx="17647920" cy="402336"/>
            <a:chOff x="0" y="0"/>
            <a:chExt cx="23530560" cy="5364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530561" cy="536448"/>
            </a:xfrm>
            <a:custGeom>
              <a:avLst/>
              <a:gdLst/>
              <a:ahLst/>
              <a:cxnLst/>
              <a:rect r="r" b="b" t="t" l="l"/>
              <a:pathLst>
                <a:path h="536448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6EAF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365760" y="9381744"/>
            <a:ext cx="17647920" cy="402336"/>
            <a:chOff x="0" y="0"/>
            <a:chExt cx="2353056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530561" cy="536448"/>
            </a:xfrm>
            <a:custGeom>
              <a:avLst/>
              <a:gdLst/>
              <a:ahLst/>
              <a:cxnLst/>
              <a:rect r="r" b="b" t="t" l="l"/>
              <a:pathLst>
                <a:path h="536448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684" r="0" b="-8046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35305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F1D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Label Mapping →  1–2 ★ = Negative   |   3 ★ = Neutral   |   4–5 ★ = Positive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Preprocessing &amp; Text Preparation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773936"/>
            <a:ext cx="950976" cy="1133856"/>
            <a:chOff x="0" y="0"/>
            <a:chExt cx="1267968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79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02336" y="1920240"/>
            <a:ext cx="950976" cy="841248"/>
            <a:chOff x="0" y="0"/>
            <a:chExt cx="1267968" cy="11216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796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67968" cy="118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9616" y="1773936"/>
            <a:ext cx="16495776" cy="1133856"/>
            <a:chOff x="0" y="0"/>
            <a:chExt cx="21994368" cy="15118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943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94368">
                  <a:moveTo>
                    <a:pt x="0" y="0"/>
                  </a:moveTo>
                  <a:lnTo>
                    <a:pt x="21994368" y="0"/>
                  </a:lnTo>
                  <a:lnTo>
                    <a:pt x="219943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55648" y="1883664"/>
            <a:ext cx="6400800" cy="512064"/>
            <a:chOff x="0" y="0"/>
            <a:chExt cx="8534400" cy="68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Decode HTML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55648" y="2377440"/>
            <a:ext cx="15910560" cy="475488"/>
            <a:chOff x="0" y="0"/>
            <a:chExt cx="21214080" cy="6339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14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99" r="0" b="-60199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12140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Strip HTML entities &amp; tags from raw review text.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2336" y="3273552"/>
            <a:ext cx="950976" cy="1133856"/>
            <a:chOff x="0" y="0"/>
            <a:chExt cx="1267968" cy="15118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679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02336" y="3419856"/>
            <a:ext cx="950976" cy="841248"/>
            <a:chOff x="0" y="0"/>
            <a:chExt cx="1267968" cy="11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796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267968" cy="118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9616" y="3273552"/>
            <a:ext cx="16495776" cy="1133856"/>
            <a:chOff x="0" y="0"/>
            <a:chExt cx="21994368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943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94368">
                  <a:moveTo>
                    <a:pt x="0" y="0"/>
                  </a:moveTo>
                  <a:lnTo>
                    <a:pt x="21994368" y="0"/>
                  </a:lnTo>
                  <a:lnTo>
                    <a:pt x="219943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755648" y="3383280"/>
            <a:ext cx="6400800" cy="512064"/>
            <a:chOff x="0" y="0"/>
            <a:chExt cx="853440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Lowercase for TF-IDF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55648" y="3877056"/>
            <a:ext cx="15910560" cy="475488"/>
            <a:chOff x="0" y="0"/>
            <a:chExt cx="21214080" cy="633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214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99" r="0" b="-60199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12140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Normalise casing so TF-IDF vocabulary is consistent.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02336" y="4773168"/>
            <a:ext cx="950976" cy="1133856"/>
            <a:chOff x="0" y="0"/>
            <a:chExt cx="1267968" cy="15118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79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02336" y="4919472"/>
            <a:ext cx="950976" cy="841248"/>
            <a:chOff x="0" y="0"/>
            <a:chExt cx="1267968" cy="11216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6796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267968" cy="118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99616" y="4773168"/>
            <a:ext cx="16495776" cy="1133856"/>
            <a:chOff x="0" y="0"/>
            <a:chExt cx="21994368" cy="15118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943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94368">
                  <a:moveTo>
                    <a:pt x="0" y="0"/>
                  </a:moveTo>
                  <a:lnTo>
                    <a:pt x="21994368" y="0"/>
                  </a:lnTo>
                  <a:lnTo>
                    <a:pt x="219943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55648" y="4882896"/>
            <a:ext cx="6400800" cy="518703"/>
            <a:chOff x="0" y="0"/>
            <a:chExt cx="8534400" cy="6916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34400" cy="691604"/>
            </a:xfrm>
            <a:custGeom>
              <a:avLst/>
              <a:gdLst/>
              <a:ahLst/>
              <a:cxnLst/>
              <a:rect r="r" b="b" t="t" l="l"/>
              <a:pathLst>
                <a:path h="69160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91604"/>
                  </a:lnTo>
                  <a:lnTo>
                    <a:pt x="0" y="691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085" r="0" b="-1898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534400" cy="748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Retain Case and Punctuations(only for VADER)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55648" y="5376672"/>
            <a:ext cx="15910560" cy="475488"/>
            <a:chOff x="0" y="0"/>
            <a:chExt cx="21214080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214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99" r="0" b="-60199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12140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 original casing &amp; punctuation for VADER stream (emphasis signals).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02336" y="6272784"/>
            <a:ext cx="950976" cy="1133856"/>
            <a:chOff x="0" y="0"/>
            <a:chExt cx="1267968" cy="15118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679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02336" y="6419088"/>
            <a:ext cx="950976" cy="841248"/>
            <a:chOff x="0" y="0"/>
            <a:chExt cx="1267968" cy="11216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6796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267968" cy="118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99616" y="6272784"/>
            <a:ext cx="16495776" cy="1133856"/>
            <a:chOff x="0" y="0"/>
            <a:chExt cx="21994368" cy="15118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943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94368">
                  <a:moveTo>
                    <a:pt x="0" y="0"/>
                  </a:moveTo>
                  <a:lnTo>
                    <a:pt x="21994368" y="0"/>
                  </a:lnTo>
                  <a:lnTo>
                    <a:pt x="219943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755648" y="6382512"/>
            <a:ext cx="6400800" cy="512064"/>
            <a:chOff x="0" y="0"/>
            <a:chExt cx="853440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Tokenise &amp; Lemmatise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755648" y="6876288"/>
            <a:ext cx="15910560" cy="475488"/>
            <a:chOff x="0" y="0"/>
            <a:chExt cx="21214080" cy="6339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214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99" r="0" b="-60199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12140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spaCy-based tokenization and lemmatization of cleaned text.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02336" y="7772400"/>
            <a:ext cx="950976" cy="1133856"/>
            <a:chOff x="0" y="0"/>
            <a:chExt cx="1267968" cy="15118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679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02336" y="7918704"/>
            <a:ext cx="950976" cy="841248"/>
            <a:chOff x="0" y="0"/>
            <a:chExt cx="1267968" cy="11216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6796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499" t="0" r="-63499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267968" cy="118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99616" y="7772400"/>
            <a:ext cx="16495776" cy="1133856"/>
            <a:chOff x="0" y="0"/>
            <a:chExt cx="21994368" cy="15118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94368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94368">
                  <a:moveTo>
                    <a:pt x="0" y="0"/>
                  </a:moveTo>
                  <a:lnTo>
                    <a:pt x="21994368" y="0"/>
                  </a:lnTo>
                  <a:lnTo>
                    <a:pt x="2199436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755648" y="7882128"/>
            <a:ext cx="6400800" cy="512064"/>
            <a:chOff x="0" y="0"/>
            <a:chExt cx="853440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34400" cy="682752"/>
            </a:xfrm>
            <a:custGeom>
              <a:avLst/>
              <a:gdLst/>
              <a:ahLst/>
              <a:cxnLst/>
              <a:rect r="r" b="b" t="t" l="l"/>
              <a:pathLst>
                <a:path h="6827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8534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Fusion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755648" y="8375904"/>
            <a:ext cx="15910560" cy="475488"/>
            <a:chOff x="0" y="0"/>
            <a:chExt cx="2121408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214080" cy="633984"/>
            </a:xfrm>
            <a:custGeom>
              <a:avLst/>
              <a:gdLst/>
              <a:ahLst/>
              <a:cxnLst/>
              <a:rect r="r" b="b" t="t" l="l"/>
              <a:pathLst>
                <a:path h="633984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1999" r="0" b="-60199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12140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 sparse TF-IDF with 25 dense engineered meta-features.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 Pipeline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737360"/>
            <a:ext cx="7772400" cy="1682496"/>
            <a:chOff x="0" y="0"/>
            <a:chExt cx="10363200" cy="22433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1847088"/>
            <a:ext cx="7315200" cy="585216"/>
            <a:chOff x="0" y="0"/>
            <a:chExt cx="975360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Delta TF-IDF (1–3 grams)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080" y="2395728"/>
            <a:ext cx="2743200" cy="438912"/>
            <a:chOff x="0" y="0"/>
            <a:chExt cx="3657600" cy="585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EE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15,000 features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0080" y="2798064"/>
            <a:ext cx="7315200" cy="548640"/>
            <a:chOff x="0" y="0"/>
            <a:chExt cx="97536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EF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Reweighted to boost minority Neutral class terms (ok, average, decent)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860085" y="1773936"/>
            <a:ext cx="7772400" cy="1682496"/>
            <a:chOff x="0" y="0"/>
            <a:chExt cx="10363200" cy="22433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632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17A58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088685" y="1847088"/>
            <a:ext cx="7315200" cy="585216"/>
            <a:chOff x="0" y="0"/>
            <a:chExt cx="975360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Scores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88685" y="2359152"/>
            <a:ext cx="2743200" cy="438912"/>
            <a:chOff x="0" y="0"/>
            <a:chExt cx="365760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EE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features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88685" y="2798064"/>
            <a:ext cx="7315200" cy="548640"/>
            <a:chOff x="0" y="0"/>
            <a:chExt cx="97536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EF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VADER (pos/neg/neu/compound) + TextBlob polarity &amp; subjectivity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11480" y="3829431"/>
            <a:ext cx="7772400" cy="1682496"/>
            <a:chOff x="0" y="0"/>
            <a:chExt cx="10363200" cy="22433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632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30936" y="4038981"/>
            <a:ext cx="7315200" cy="585216"/>
            <a:chOff x="0" y="0"/>
            <a:chExt cx="975360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Lexical &amp; Syntactic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0936" y="4486656"/>
            <a:ext cx="2743200" cy="438912"/>
            <a:chOff x="0" y="0"/>
            <a:chExt cx="365760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EE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features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0936" y="4925568"/>
            <a:ext cx="7315200" cy="548640"/>
            <a:chOff x="0" y="0"/>
            <a:chExt cx="97536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EF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Verb/adj/adv counts, negation density, TTR, punctuation intensity, length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860085" y="3782949"/>
            <a:ext cx="7772400" cy="1728978"/>
            <a:chOff x="0" y="0"/>
            <a:chExt cx="10363200" cy="230530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363200" cy="2305304"/>
            </a:xfrm>
            <a:custGeom>
              <a:avLst/>
              <a:gdLst/>
              <a:ahLst/>
              <a:cxnLst/>
              <a:rect r="r" b="b" t="t" l="l"/>
              <a:pathLst>
                <a:path h="230530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305304"/>
                  </a:lnTo>
                  <a:lnTo>
                    <a:pt x="0" y="230530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088685" y="3904107"/>
            <a:ext cx="7315200" cy="585216"/>
            <a:chOff x="0" y="0"/>
            <a:chExt cx="9753600" cy="780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Sentence-Level &amp; Intent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88685" y="4404741"/>
            <a:ext cx="2743200" cy="438912"/>
            <a:chOff x="0" y="0"/>
            <a:chExt cx="365760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DEE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 features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0" y="4843653"/>
            <a:ext cx="7315200" cy="548640"/>
            <a:chOff x="0" y="0"/>
            <a:chExt cx="975360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EF5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First/last-sentence VADER, contrast score, intent flags, caps ratio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2248411" y="5474208"/>
            <a:ext cx="12666818" cy="4180050"/>
          </a:xfrm>
          <a:custGeom>
            <a:avLst/>
            <a:gdLst/>
            <a:ahLst/>
            <a:cxnLst/>
            <a:rect r="r" b="b" t="t" l="l"/>
            <a:pathLst>
              <a:path h="4180050" w="12666818">
                <a:moveTo>
                  <a:pt x="0" y="0"/>
                </a:moveTo>
                <a:lnTo>
                  <a:pt x="12666818" y="0"/>
                </a:lnTo>
                <a:lnTo>
                  <a:pt x="12666818" y="4180050"/>
                </a:lnTo>
                <a:lnTo>
                  <a:pt x="0" y="4180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Classification Results — Linear SVC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78359"/>
            <a:ext cx="4048763" cy="1854203"/>
            <a:chOff x="0" y="0"/>
            <a:chExt cx="539835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00784"/>
            <a:ext cx="4023360" cy="1024128"/>
            <a:chOff x="0" y="0"/>
            <a:chExt cx="5364480" cy="13655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36448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95.31%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615184"/>
            <a:ext cx="4023360" cy="694944"/>
            <a:chOff x="0" y="0"/>
            <a:chExt cx="536448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42183" y="1578359"/>
            <a:ext cx="4048763" cy="1854203"/>
            <a:chOff x="0" y="0"/>
            <a:chExt cx="5398351" cy="2472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754880" y="1700784"/>
            <a:ext cx="4023360" cy="1024128"/>
            <a:chOff x="0" y="0"/>
            <a:chExt cx="5364480" cy="1365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36448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0.6439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54880" y="2615184"/>
            <a:ext cx="4023360" cy="694944"/>
            <a:chOff x="0" y="0"/>
            <a:chExt cx="536448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Macro-F1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1303" y="1578359"/>
            <a:ext cx="4048763" cy="1854203"/>
            <a:chOff x="0" y="0"/>
            <a:chExt cx="539835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0" y="1700784"/>
            <a:ext cx="4023360" cy="1024128"/>
            <a:chOff x="0" y="0"/>
            <a:chExt cx="5364480" cy="13655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36448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0.3423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0" y="2615184"/>
            <a:ext cx="4023360" cy="694944"/>
            <a:chOff x="0" y="0"/>
            <a:chExt cx="53644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Neutral F1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0423" y="1578359"/>
            <a:ext cx="4048763" cy="1854203"/>
            <a:chOff x="0" y="0"/>
            <a:chExt cx="539835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533120" y="1700784"/>
            <a:ext cx="4023360" cy="1024128"/>
            <a:chOff x="0" y="0"/>
            <a:chExt cx="5364480" cy="1365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36448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0.6104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33120" y="2615184"/>
            <a:ext cx="4023360" cy="694944"/>
            <a:chOff x="0" y="0"/>
            <a:chExt cx="53644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Negative F1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4182364" y="4182745"/>
          <a:ext cx="10033000" cy="2744470"/>
        </p:xfrm>
        <a:graphic>
          <a:graphicData uri="http://schemas.openxmlformats.org/drawingml/2006/table">
            <a:tbl>
              <a:tblPr/>
              <a:tblGrid>
                <a:gridCol w="2893664"/>
                <a:gridCol w="2453191"/>
                <a:gridCol w="2232954"/>
                <a:gridCol w="2453191"/>
              </a:tblGrid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Negative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0.6104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Neutral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0.5135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0.2568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0.3423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0.9789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Classification Results — Logistic Regression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78359"/>
            <a:ext cx="4048763" cy="1854203"/>
            <a:chOff x="0" y="0"/>
            <a:chExt cx="539835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00784"/>
            <a:ext cx="4023360" cy="1123801"/>
            <a:chOff x="0" y="0"/>
            <a:chExt cx="5364480" cy="1498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95.2%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615184"/>
            <a:ext cx="4023360" cy="694944"/>
            <a:chOff x="0" y="0"/>
            <a:chExt cx="536448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42183" y="1578359"/>
            <a:ext cx="4048763" cy="1854203"/>
            <a:chOff x="0" y="0"/>
            <a:chExt cx="5398351" cy="2472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754880" y="1700784"/>
            <a:ext cx="4023360" cy="1123801"/>
            <a:chOff x="0" y="0"/>
            <a:chExt cx="5364480" cy="14984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54880" y="2615184"/>
            <a:ext cx="4023360" cy="694944"/>
            <a:chOff x="0" y="0"/>
            <a:chExt cx="536448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Macro-F1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1303" y="1578359"/>
            <a:ext cx="4048763" cy="1854203"/>
            <a:chOff x="0" y="0"/>
            <a:chExt cx="539835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0" y="1700784"/>
            <a:ext cx="4023360" cy="1123801"/>
            <a:chOff x="0" y="0"/>
            <a:chExt cx="5364480" cy="14984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0" y="2615184"/>
            <a:ext cx="4023360" cy="694944"/>
            <a:chOff x="0" y="0"/>
            <a:chExt cx="53644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Neutral F1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0423" y="1578359"/>
            <a:ext cx="4048763" cy="1854203"/>
            <a:chOff x="0" y="0"/>
            <a:chExt cx="539835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533120" y="1700784"/>
            <a:ext cx="4023360" cy="1123801"/>
            <a:chOff x="0" y="0"/>
            <a:chExt cx="5364480" cy="14984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33120" y="2615184"/>
            <a:ext cx="4023360" cy="694944"/>
            <a:chOff x="0" y="0"/>
            <a:chExt cx="53644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Negative F1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4182364" y="4182745"/>
          <a:ext cx="10033000" cy="2744470"/>
        </p:xfrm>
        <a:graphic>
          <a:graphicData uri="http://schemas.openxmlformats.org/drawingml/2006/table">
            <a:tbl>
              <a:tblPr/>
              <a:tblGrid>
                <a:gridCol w="2893664"/>
                <a:gridCol w="2453191"/>
                <a:gridCol w="2232954"/>
                <a:gridCol w="2453191"/>
              </a:tblGrid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Negative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Neutral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Classification Results — LSTM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78359"/>
            <a:ext cx="4048763" cy="1854203"/>
            <a:chOff x="0" y="0"/>
            <a:chExt cx="539835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00784"/>
            <a:ext cx="4023360" cy="1123801"/>
            <a:chOff x="0" y="0"/>
            <a:chExt cx="5364480" cy="1498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72.97</a:t>
              </a: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615184"/>
            <a:ext cx="4023360" cy="694944"/>
            <a:chOff x="0" y="0"/>
            <a:chExt cx="536448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42183" y="1578359"/>
            <a:ext cx="4048763" cy="1854203"/>
            <a:chOff x="0" y="0"/>
            <a:chExt cx="5398351" cy="2472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754880" y="1700784"/>
            <a:ext cx="4023360" cy="1123801"/>
            <a:chOff x="0" y="0"/>
            <a:chExt cx="5364480" cy="14984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754880" y="2615184"/>
            <a:ext cx="4023360" cy="694944"/>
            <a:chOff x="0" y="0"/>
            <a:chExt cx="536448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Macro-F1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1303" y="1578359"/>
            <a:ext cx="4048763" cy="1854203"/>
            <a:chOff x="0" y="0"/>
            <a:chExt cx="539835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0" y="1700784"/>
            <a:ext cx="4023360" cy="1123801"/>
            <a:chOff x="0" y="0"/>
            <a:chExt cx="5364480" cy="14984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0.98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0" y="2615184"/>
            <a:ext cx="4023360" cy="694944"/>
            <a:chOff x="0" y="0"/>
            <a:chExt cx="53644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Positive F1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0423" y="1578359"/>
            <a:ext cx="4048763" cy="1854203"/>
            <a:chOff x="0" y="0"/>
            <a:chExt cx="539835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74C3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2455291"/>
                  </a:lnTo>
                  <a:cubicBezTo>
                    <a:pt x="5398262" y="2464689"/>
                    <a:pt x="5390642" y="2472182"/>
                    <a:pt x="53813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381371" y="2438400"/>
                  </a:lnTo>
                  <a:lnTo>
                    <a:pt x="5381371" y="2455291"/>
                  </a:lnTo>
                  <a:lnTo>
                    <a:pt x="5364480" y="24552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533120" y="1700784"/>
            <a:ext cx="4023360" cy="1123801"/>
            <a:chOff x="0" y="0"/>
            <a:chExt cx="5364480" cy="14984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93" r="0" b="-153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3644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0.49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33120" y="2615184"/>
            <a:ext cx="4023360" cy="694944"/>
            <a:chOff x="0" y="0"/>
            <a:chExt cx="53644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926592"/>
            </a:xfrm>
            <a:custGeom>
              <a:avLst/>
              <a:gdLst/>
              <a:ahLst/>
              <a:cxnLst/>
              <a:rect r="r" b="b" t="t" l="l"/>
              <a:pathLst>
                <a:path h="92659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808" r="0" b="-6280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644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Negative F1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4182364" y="4182745"/>
          <a:ext cx="10033000" cy="2744470"/>
        </p:xfrm>
        <a:graphic>
          <a:graphicData uri="http://schemas.openxmlformats.org/drawingml/2006/table">
            <a:tbl>
              <a:tblPr/>
              <a:tblGrid>
                <a:gridCol w="2893664"/>
                <a:gridCol w="2453191"/>
                <a:gridCol w="2232954"/>
                <a:gridCol w="2453191"/>
              </a:tblGrid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Negative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Neutral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61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Positive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Sentiment Analysis Model 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402336" y="1682496"/>
          <a:ext cx="17602200" cy="6578600"/>
        </p:xfrm>
        <a:graphic>
          <a:graphicData uri="http://schemas.openxmlformats.org/drawingml/2006/table">
            <a:tbl>
              <a:tblPr/>
              <a:tblGrid>
                <a:gridCol w="3652431"/>
                <a:gridCol w="4649923"/>
                <a:gridCol w="4649923"/>
                <a:gridCol w="4649923"/>
              </a:tblGrid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Criterion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Logistic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Linear SVC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LSTM + Embeddings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Difficulty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— max likelihood, linear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Moderate — hinge-loss, margin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— RNN, BPTT, embeddings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Binary/multiclass, TF-IDF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High-dim sparse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Sequence modelling, context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Resource Req.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Very low — fast CPU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Low–moderate, efficient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— GPU preferred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Interpretability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— feature coefficients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Moderate — linear case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— Cannot be interpreted directly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Scalability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for sparse data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but costly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Imbalance Handling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class_weight='balanced'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class_weight='balanced'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Confidence pseudo-labeling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Selected Sentiment Classifier — Linear SVC (LIBLINEAR)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737360"/>
            <a:ext cx="8595360" cy="3474720"/>
            <a:chOff x="0" y="0"/>
            <a:chExt cx="11460480" cy="463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02336" y="1737360"/>
            <a:ext cx="8595360" cy="768096"/>
            <a:chOff x="0" y="0"/>
            <a:chExt cx="1146048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85216" y="1847088"/>
            <a:ext cx="8229600" cy="585216"/>
            <a:chOff x="0" y="0"/>
            <a:chExt cx="1097280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 Optimal for Sparse TF-IDF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5216" y="2688336"/>
            <a:ext cx="8229600" cy="2377440"/>
            <a:chOff x="0" y="0"/>
            <a:chExt cx="10972800" cy="3169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15,000+ feature matrix is extremely high-dimensional and sparse. LIBLINEAR is engineered for this regime and converges faster than kernel SVMs.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63456" y="1737360"/>
            <a:ext cx="8595360" cy="3474720"/>
            <a:chOff x="0" y="0"/>
            <a:chExt cx="11460480" cy="463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63456" y="1737360"/>
            <a:ext cx="8595360" cy="768096"/>
            <a:chOff x="0" y="0"/>
            <a:chExt cx="11460480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46336" y="1847088"/>
            <a:ext cx="8229600" cy="585216"/>
            <a:chOff x="0" y="0"/>
            <a:chExt cx="109728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 Margin-Based Learning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46336" y="2688336"/>
            <a:ext cx="8229600" cy="2377440"/>
            <a:chOff x="0" y="0"/>
            <a:chExt cx="10972800" cy="3169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Maximises the geometric margin between classes. Critical when Neutral sits between Positive and Negative with fuzzy boundaries.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02336" y="5577840"/>
            <a:ext cx="8595360" cy="3474720"/>
            <a:chOff x="0" y="0"/>
            <a:chExt cx="11460480" cy="463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02336" y="5577840"/>
            <a:ext cx="8595360" cy="768096"/>
            <a:chOff x="0" y="0"/>
            <a:chExt cx="1146048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85216" y="5687568"/>
            <a:ext cx="8229600" cy="585216"/>
            <a:chOff x="0" y="0"/>
            <a:chExt cx="1097280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 Best Macro-F1 on Minority Classes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85216" y="6528816"/>
            <a:ext cx="8229600" cy="2377440"/>
            <a:chOff x="0" y="0"/>
            <a:chExt cx="10972800" cy="3169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class_weight='balanced' and hinge loss give better recall on Negative and Neutral vs. Logistic Regression's log-loss.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63456" y="5577840"/>
            <a:ext cx="8595360" cy="3474720"/>
            <a:chOff x="0" y="0"/>
            <a:chExt cx="11460480" cy="4632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363456" y="5577840"/>
            <a:ext cx="8595360" cy="768096"/>
            <a:chOff x="0" y="0"/>
            <a:chExt cx="1146048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46336" y="5687568"/>
            <a:ext cx="8229600" cy="585216"/>
            <a:chOff x="0" y="0"/>
            <a:chExt cx="1097280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 Production-Grade CPU Efficiency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46336" y="6528816"/>
            <a:ext cx="8229600" cy="2377440"/>
            <a:chOff x="0" y="0"/>
            <a:chExt cx="10972800" cy="3169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pipeline trains in under 2 minutes on CPU. No GPU or distributed compute required. Hyperparameters tuned via Optuna.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97180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Prediction Results — Linear Regression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78359"/>
            <a:ext cx="4231643" cy="1854203"/>
            <a:chOff x="0" y="0"/>
            <a:chExt cx="564219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00784"/>
            <a:ext cx="4206240" cy="1123801"/>
            <a:chOff x="0" y="0"/>
            <a:chExt cx="5608320" cy="1498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51.14</a:t>
              </a: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615184"/>
            <a:ext cx="4206240" cy="694944"/>
            <a:chOff x="0" y="0"/>
            <a:chExt cx="560832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±0.5 Stars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25063" y="1578359"/>
            <a:ext cx="4231643" cy="1854203"/>
            <a:chOff x="0" y="0"/>
            <a:chExt cx="5642191" cy="2472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1700784"/>
            <a:ext cx="4206240" cy="1123801"/>
            <a:chOff x="0" y="0"/>
            <a:chExt cx="5608320" cy="14984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69</a:t>
              </a: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2615184"/>
            <a:ext cx="4206240" cy="694944"/>
            <a:chOff x="0" y="0"/>
            <a:chExt cx="560832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±1.0 Stars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7063" y="1578359"/>
            <a:ext cx="4231643" cy="1854203"/>
            <a:chOff x="0" y="0"/>
            <a:chExt cx="564219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9760" y="1700784"/>
            <a:ext cx="4206240" cy="1123801"/>
            <a:chOff x="0" y="0"/>
            <a:chExt cx="5608320" cy="14984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1.2451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2615184"/>
            <a:ext cx="4206240" cy="694944"/>
            <a:chOff x="0" y="0"/>
            <a:chExt cx="56083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69063" y="1578359"/>
            <a:ext cx="4231643" cy="1854203"/>
            <a:chOff x="0" y="0"/>
            <a:chExt cx="564219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81760" y="1700784"/>
            <a:ext cx="4206240" cy="1123801"/>
            <a:chOff x="0" y="0"/>
            <a:chExt cx="5608320" cy="14984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-0.0547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081760" y="2615184"/>
            <a:ext cx="4206240" cy="694944"/>
            <a:chOff x="0" y="0"/>
            <a:chExt cx="560832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Score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528320" y="4823212"/>
          <a:ext cx="17576800" cy="2287587"/>
        </p:xfrm>
        <a:graphic>
          <a:graphicData uri="http://schemas.openxmlformats.org/drawingml/2006/table">
            <a:tbl>
              <a:tblPr/>
              <a:tblGrid>
                <a:gridCol w="3275585"/>
                <a:gridCol w="3004710"/>
                <a:gridCol w="3004710"/>
                <a:gridCol w="2733834"/>
                <a:gridCol w="2733834"/>
                <a:gridCol w="2824126"/>
              </a:tblGrid>
              <a:tr h="762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Within ±0.5★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Within ±1.0★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62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51.14%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69.00%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1.549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1.245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–0.055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Ridge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33.08%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62.52%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0.2809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97180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Prediction Results — Ridge Regression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78359"/>
            <a:ext cx="4231643" cy="1854203"/>
            <a:chOff x="0" y="0"/>
            <a:chExt cx="564219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00784"/>
            <a:ext cx="4206240" cy="1123801"/>
            <a:chOff x="0" y="0"/>
            <a:chExt cx="5608320" cy="1498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33.08</a:t>
              </a: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615184"/>
            <a:ext cx="4206240" cy="694944"/>
            <a:chOff x="0" y="0"/>
            <a:chExt cx="560832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±0.5 Stars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25063" y="1578359"/>
            <a:ext cx="4231643" cy="1854203"/>
            <a:chOff x="0" y="0"/>
            <a:chExt cx="5642191" cy="2472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1700784"/>
            <a:ext cx="4206240" cy="1123801"/>
            <a:chOff x="0" y="0"/>
            <a:chExt cx="5608320" cy="14984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62.52</a:t>
              </a: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2615184"/>
            <a:ext cx="4206240" cy="694944"/>
            <a:chOff x="0" y="0"/>
            <a:chExt cx="560832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±1.0 Stars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7063" y="1578359"/>
            <a:ext cx="4231643" cy="1854203"/>
            <a:chOff x="0" y="0"/>
            <a:chExt cx="564219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9760" y="1700784"/>
            <a:ext cx="4206240" cy="1123801"/>
            <a:chOff x="0" y="0"/>
            <a:chExt cx="5608320" cy="14984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1.0281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2615184"/>
            <a:ext cx="4206240" cy="694944"/>
            <a:chOff x="0" y="0"/>
            <a:chExt cx="56083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69063" y="1578359"/>
            <a:ext cx="4231643" cy="1854203"/>
            <a:chOff x="0" y="0"/>
            <a:chExt cx="564219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81760" y="1700784"/>
            <a:ext cx="4206240" cy="1123801"/>
            <a:chOff x="0" y="0"/>
            <a:chExt cx="5608320" cy="14984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08320" cy="1498402"/>
            </a:xfrm>
            <a:custGeom>
              <a:avLst/>
              <a:gdLst/>
              <a:ahLst/>
              <a:cxnLst/>
              <a:rect r="r" b="b" t="t" l="l"/>
              <a:pathLst>
                <a:path h="149840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4" r="0" b="-184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60832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0.2809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081760" y="2615184"/>
            <a:ext cx="4206240" cy="694944"/>
            <a:chOff x="0" y="0"/>
            <a:chExt cx="560832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Score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528320" y="4823212"/>
          <a:ext cx="17576800" cy="2287587"/>
        </p:xfrm>
        <a:graphic>
          <a:graphicData uri="http://schemas.openxmlformats.org/drawingml/2006/table">
            <a:tbl>
              <a:tblPr/>
              <a:tblGrid>
                <a:gridCol w="3275585"/>
                <a:gridCol w="3004710"/>
                <a:gridCol w="3004710"/>
                <a:gridCol w="2733834"/>
                <a:gridCol w="2733834"/>
                <a:gridCol w="2824126"/>
              </a:tblGrid>
              <a:tr h="762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Within ±0.5★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Within ±1.0★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62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51.14%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69.00%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1.549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1.245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–0.055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Ridge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33.08%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62.52%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0.2809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97180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Prediction Results — XGBoost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9639" y="1578359"/>
            <a:ext cx="4231643" cy="1854203"/>
            <a:chOff x="0" y="0"/>
            <a:chExt cx="564219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7A58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2336" y="1700784"/>
            <a:ext cx="4206240" cy="1024128"/>
            <a:chOff x="0" y="0"/>
            <a:chExt cx="5608320" cy="13655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560832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79.42%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02336" y="2615184"/>
            <a:ext cx="4206240" cy="694944"/>
            <a:chOff x="0" y="0"/>
            <a:chExt cx="560832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±0.5 Stars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25063" y="1578359"/>
            <a:ext cx="4231643" cy="1854203"/>
            <a:chOff x="0" y="0"/>
            <a:chExt cx="5642191" cy="24722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E86C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1700784"/>
            <a:ext cx="4206240" cy="1024128"/>
            <a:chOff x="0" y="0"/>
            <a:chExt cx="5608320" cy="1365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560832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93.57%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2615184"/>
            <a:ext cx="4206240" cy="694944"/>
            <a:chOff x="0" y="0"/>
            <a:chExt cx="560832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Within ±1.0 Stars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97063" y="1578359"/>
            <a:ext cx="4231643" cy="1854203"/>
            <a:chOff x="0" y="0"/>
            <a:chExt cx="564219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B3A6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09760" y="1700784"/>
            <a:ext cx="4206240" cy="1024128"/>
            <a:chOff x="0" y="0"/>
            <a:chExt cx="5608320" cy="13655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560832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0.5629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9760" y="2615184"/>
            <a:ext cx="4206240" cy="694944"/>
            <a:chOff x="0" y="0"/>
            <a:chExt cx="56083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69063" y="1578359"/>
            <a:ext cx="4231643" cy="1854203"/>
            <a:chOff x="0" y="0"/>
            <a:chExt cx="5642191" cy="24722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42102" cy="2472182"/>
            </a:xfrm>
            <a:custGeom>
              <a:avLst/>
              <a:gdLst/>
              <a:ahLst/>
              <a:cxnLst/>
              <a:rect r="r" b="b" t="t" l="l"/>
              <a:pathLst>
                <a:path h="2472182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2455291"/>
                  </a:lnTo>
                  <a:cubicBezTo>
                    <a:pt x="5642102" y="2464689"/>
                    <a:pt x="5634482" y="2472182"/>
                    <a:pt x="56252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5625211" y="2438400"/>
                  </a:lnTo>
                  <a:lnTo>
                    <a:pt x="5625211" y="2455291"/>
                  </a:lnTo>
                  <a:lnTo>
                    <a:pt x="5608320" y="245529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81760" y="1700784"/>
            <a:ext cx="4206240" cy="1024128"/>
            <a:chOff x="0" y="0"/>
            <a:chExt cx="5608320" cy="1365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08320" cy="1365504"/>
            </a:xfrm>
            <a:custGeom>
              <a:avLst/>
              <a:gdLst/>
              <a:ahLst/>
              <a:cxnLst/>
              <a:rect r="r" b="b" t="t" l="l"/>
              <a:pathLst>
                <a:path h="1365504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27" r="0" b="-3002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608320" cy="1479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0.4196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081760" y="2615184"/>
            <a:ext cx="4206240" cy="694944"/>
            <a:chOff x="0" y="0"/>
            <a:chExt cx="560832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 Score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528320" y="4823212"/>
          <a:ext cx="17576800" cy="3048000"/>
        </p:xfrm>
        <a:graphic>
          <a:graphicData uri="http://schemas.openxmlformats.org/drawingml/2006/table">
            <a:tbl>
              <a:tblPr/>
              <a:tblGrid>
                <a:gridCol w="3275585"/>
                <a:gridCol w="3004710"/>
                <a:gridCol w="3004710"/>
                <a:gridCol w="2733834"/>
                <a:gridCol w="2733834"/>
                <a:gridCol w="2824126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Within ±0.5★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Within ±1.0★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79.42%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93.57%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0.3169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0.5629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0.4196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Ridge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33.08%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62.52%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0.2809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51.14%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69.00%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1.549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1.245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–0.055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Selected Rating Predictor — XGBoost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737360"/>
            <a:ext cx="8595360" cy="3474720"/>
            <a:chOff x="0" y="0"/>
            <a:chExt cx="11460480" cy="463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02336" y="1737360"/>
            <a:ext cx="8595360" cy="768096"/>
            <a:chOff x="0" y="0"/>
            <a:chExt cx="11460480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85216" y="1847088"/>
            <a:ext cx="8229600" cy="585216"/>
            <a:chOff x="0" y="0"/>
            <a:chExt cx="1097280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 Non-Linear Rating Patterns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5216" y="2688336"/>
            <a:ext cx="8229600" cy="2377440"/>
            <a:chOff x="0" y="0"/>
            <a:chExt cx="10972800" cy="3169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ratings are influenced by interacting factors: review text, sentiment cues, and metadata (reputation, votes). Gradient-boosted trees capture these naturally.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63456" y="1737360"/>
            <a:ext cx="8595360" cy="3474720"/>
            <a:chOff x="0" y="0"/>
            <a:chExt cx="11460480" cy="463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63456" y="1737360"/>
            <a:ext cx="8595360" cy="768096"/>
            <a:chOff x="0" y="0"/>
            <a:chExt cx="11460480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7A58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46336" y="1847088"/>
            <a:ext cx="8229600" cy="585216"/>
            <a:chOff x="0" y="0"/>
            <a:chExt cx="109728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 Heterogeneous Feature Handling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46336" y="2688336"/>
            <a:ext cx="8229600" cy="2377440"/>
            <a:chOff x="0" y="0"/>
            <a:chExt cx="10972800" cy="3169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dense numerical metadata with text-derived signals in a single model — no strict linearity assumptions needed.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02336" y="5577840"/>
            <a:ext cx="8595360" cy="3474720"/>
            <a:chOff x="0" y="0"/>
            <a:chExt cx="11460480" cy="463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02336" y="5577840"/>
            <a:ext cx="8595360" cy="768096"/>
            <a:chOff x="0" y="0"/>
            <a:chExt cx="1146048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85216" y="5687568"/>
            <a:ext cx="8229600" cy="585216"/>
            <a:chOff x="0" y="0"/>
            <a:chExt cx="1097280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 Regularisation &amp; Ensemble Robustness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85216" y="6528816"/>
            <a:ext cx="8229600" cy="2377440"/>
            <a:chOff x="0" y="0"/>
            <a:chExt cx="10972800" cy="3169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Stage-wise ensemble of shallow trees reduces bias while maintaining generalisation. Built-in L1/L2 regularisation controls overfitting.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63456" y="5577840"/>
            <a:ext cx="8595360" cy="3474720"/>
            <a:chOff x="0" y="0"/>
            <a:chExt cx="11460480" cy="4632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6048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363456" y="5577840"/>
            <a:ext cx="8595360" cy="768096"/>
            <a:chOff x="0" y="0"/>
            <a:chExt cx="1146048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460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46336" y="5687568"/>
            <a:ext cx="8229600" cy="585216"/>
            <a:chOff x="0" y="0"/>
            <a:chExt cx="1097280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780288"/>
            </a:xfrm>
            <a:custGeom>
              <a:avLst/>
              <a:gdLst/>
              <a:ahLst/>
              <a:cxnLst/>
              <a:rect r="r" b="b" t="t" l="l"/>
              <a:pathLst>
                <a:path h="7802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972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 Empirically Strongest Regressor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46336" y="6528816"/>
            <a:ext cx="8229600" cy="2377440"/>
            <a:chOff x="0" y="0"/>
            <a:chExt cx="10972800" cy="3169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97280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reported trade-off across all metrics: ±0.5 accuracy 79.42%, ±1.0 accuracy 93.57%, MSE 0.317, R² 0.420.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46931"/>
            <a:chOff x="0" y="0"/>
            <a:chExt cx="23652480" cy="13959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95909"/>
            </a:xfrm>
            <a:custGeom>
              <a:avLst/>
              <a:gdLst/>
              <a:ahLst/>
              <a:cxnLst/>
              <a:rect r="r" b="b" t="t" l="l"/>
              <a:pathLst>
                <a:path h="1395909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119" r="0" b="-278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5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Prediction Model 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402336" y="1682496"/>
          <a:ext cx="17602200" cy="6578600"/>
        </p:xfrm>
        <a:graphic>
          <a:graphicData uri="http://schemas.openxmlformats.org/drawingml/2006/table">
            <a:tbl>
              <a:tblPr/>
              <a:tblGrid>
                <a:gridCol w="3743112"/>
                <a:gridCol w="4613650"/>
                <a:gridCol w="4613650"/>
                <a:gridCol w="4631787"/>
              </a:tblGrid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Criterion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Linear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Ridge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Difficulty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Very 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— add L2 penalty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Moderate — ensemble trees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Scope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relationships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+ regularisation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Non-linear, mixed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Interpretability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— coefficients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— coefficients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Moderate — feature importance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Non-linearity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Full — tree interactions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Regularisation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 (Ridge)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Built-in L1+L2 + shrinkage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MSE/R²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MSE 1.55 / R² –0.055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MSE 1.06 / R² 0.281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MSE 0.317 / R² 0.420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356616" y="8816467"/>
            <a:ext cx="17647920" cy="441833"/>
            <a:chOff x="0" y="0"/>
            <a:chExt cx="23530560" cy="589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30561" cy="589111"/>
            </a:xfrm>
            <a:custGeom>
              <a:avLst/>
              <a:gdLst/>
              <a:ahLst/>
              <a:cxnLst/>
              <a:rect r="r" b="b" t="t" l="l"/>
              <a:pathLst>
                <a:path h="589111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589111"/>
                  </a:lnTo>
                  <a:lnTo>
                    <a:pt x="0" y="5891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750" r="0" b="-7238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3530560" cy="63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XGBoost selected: captures non-linear rating patterns, handles heterogeneous features, strongest R² and tolerance accuracy.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 &amp; Error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28540" y="1434274"/>
            <a:ext cx="8595360" cy="548640"/>
            <a:chOff x="0" y="0"/>
            <a:chExt cx="114604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0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265" r="0" b="-2552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60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Linear SVC Confusion Matrix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4864100" y="2091309"/>
          <a:ext cx="8559800" cy="3657600"/>
        </p:xfrm>
        <a:graphic>
          <a:graphicData uri="http://schemas.openxmlformats.org/drawingml/2006/table">
            <a:tbl>
              <a:tblPr/>
              <a:tblGrid>
                <a:gridCol w="2184636"/>
                <a:gridCol w="2131013"/>
                <a:gridCol w="2131013"/>
                <a:gridCol w="2113139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Pred: Neg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Pred: Neu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Pred: Pos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True: Neg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F1D3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F1D3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True: Neu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F1D3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F1D3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6F1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True: Pos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F1D3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F1D3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2291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016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589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402336" y="6309360"/>
            <a:ext cx="17647920" cy="1005840"/>
            <a:chOff x="0" y="0"/>
            <a:chExt cx="2353056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530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58368" y="6382512"/>
            <a:ext cx="6583680" cy="475488"/>
            <a:chOff x="0" y="0"/>
            <a:chExt cx="8778240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🔴  Neutral class hardest to predict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8368" y="6839712"/>
            <a:ext cx="17007840" cy="402336"/>
            <a:chOff x="0" y="0"/>
            <a:chExt cx="2267712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685" r="0" b="-77368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26771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3★ reviews. Users mix praise &amp; criticism in same sentence → ambiguous boundary.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02336" y="7443216"/>
            <a:ext cx="17647920" cy="1005840"/>
            <a:chOff x="0" y="0"/>
            <a:chExt cx="2353056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530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" y="7516368"/>
            <a:ext cx="6583680" cy="475488"/>
            <a:chOff x="0" y="0"/>
            <a:chExt cx="8778240" cy="6339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🟢  Positive dominates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8368" y="7973568"/>
            <a:ext cx="17007840" cy="402336"/>
            <a:chOff x="0" y="0"/>
            <a:chExt cx="22677120" cy="5364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685" r="0" b="-77368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26771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2322/2473 test samples (93.9%) are Positive → high accuracy but misleading without Macro-F1.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02336" y="8577072"/>
            <a:ext cx="17647920" cy="1005840"/>
            <a:chOff x="0" y="0"/>
            <a:chExt cx="23530560" cy="134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530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58368" y="8650224"/>
            <a:ext cx="6583680" cy="475488"/>
            <a:chOff x="0" y="0"/>
            <a:chExt cx="8778240" cy="6339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🟡  Negation &amp; contrast missed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8368" y="9107424"/>
            <a:ext cx="17007840" cy="402336"/>
            <a:chOff x="0" y="0"/>
            <a:chExt cx="22677120" cy="5364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685" r="0" b="-77368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267712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Phrases like 'not bad' or 'could be better' confuse bag-of-words models.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8016" cy="10287000"/>
            <a:chOff x="0" y="0"/>
            <a:chExt cx="17068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9184" y="219456"/>
            <a:ext cx="17739360" cy="1005840"/>
            <a:chOff x="0" y="0"/>
            <a:chExt cx="2365248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645" r="0" b="-2936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365248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0F1D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Pipeline &amp; 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9184" y="1280160"/>
            <a:ext cx="17739360" cy="45720"/>
            <a:chOff x="0" y="0"/>
            <a:chExt cx="23652480" cy="60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52480" cy="60960"/>
            </a:xfrm>
            <a:custGeom>
              <a:avLst/>
              <a:gdLst/>
              <a:ahLst/>
              <a:cxnLst/>
              <a:rect r="r" b="b" t="t" l="l"/>
              <a:pathLst>
                <a:path h="60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784080"/>
            <a:ext cx="18288000" cy="502920"/>
            <a:chOff x="0" y="0"/>
            <a:chExt cx="24384000" cy="670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F1D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9802368"/>
            <a:ext cx="15544800" cy="457200"/>
            <a:chOff x="0" y="0"/>
            <a:chExt cx="207264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Analysis &amp; Rating Prediction  |  Team 11  |  IIT Dharwad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90720" y="9802368"/>
            <a:ext cx="914400" cy="457200"/>
            <a:chOff x="0" y="0"/>
            <a:chExt cx="1219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9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1609344"/>
            <a:ext cx="2779776" cy="2011680"/>
            <a:chOff x="0" y="0"/>
            <a:chExt cx="3706368" cy="2682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063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5D6D7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93776" y="1645920"/>
            <a:ext cx="2596896" cy="1938528"/>
            <a:chOff x="0" y="0"/>
            <a:chExt cx="3462528" cy="25847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62528" cy="2584704"/>
            </a:xfrm>
            <a:custGeom>
              <a:avLst/>
              <a:gdLst/>
              <a:ahLst/>
              <a:cxnLst/>
              <a:rect r="r" b="b" t="t" l="l"/>
              <a:pathLst>
                <a:path h="258470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775" t="0" r="-4577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462528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Review Text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56709" y="2589781"/>
            <a:ext cx="233677" cy="50797"/>
            <a:chOff x="0" y="0"/>
            <a:chExt cx="311569" cy="677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3909" y="0"/>
              <a:ext cx="243840" cy="67691"/>
            </a:xfrm>
            <a:custGeom>
              <a:avLst/>
              <a:gdLst/>
              <a:ahLst/>
              <a:cxnLst/>
              <a:rect r="r" b="b" t="t" l="l"/>
              <a:pathLst>
                <a:path h="67691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364992" y="1609344"/>
            <a:ext cx="2779776" cy="2011680"/>
            <a:chOff x="0" y="0"/>
            <a:chExt cx="3706368" cy="2682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063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5D6D7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456432" y="1645920"/>
            <a:ext cx="2596896" cy="1938528"/>
            <a:chOff x="0" y="0"/>
            <a:chExt cx="3462528" cy="25847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62528" cy="2584704"/>
            </a:xfrm>
            <a:custGeom>
              <a:avLst/>
              <a:gdLst/>
              <a:ahLst/>
              <a:cxnLst/>
              <a:rect r="r" b="b" t="t" l="l"/>
              <a:pathLst>
                <a:path h="258470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775" t="0" r="-457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462528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Separate p</a:t>
              </a: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reprocessing for VADER and TF-IDF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19365" y="2589781"/>
            <a:ext cx="233677" cy="50797"/>
            <a:chOff x="0" y="0"/>
            <a:chExt cx="311569" cy="677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3909" y="0"/>
              <a:ext cx="243840" cy="67691"/>
            </a:xfrm>
            <a:custGeom>
              <a:avLst/>
              <a:gdLst/>
              <a:ahLst/>
              <a:cxnLst/>
              <a:rect r="r" b="b" t="t" l="l"/>
              <a:pathLst>
                <a:path h="67691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327648" y="1609344"/>
            <a:ext cx="2779776" cy="2011680"/>
            <a:chOff x="0" y="0"/>
            <a:chExt cx="3706368" cy="2682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063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419088" y="1645920"/>
            <a:ext cx="2596896" cy="1938528"/>
            <a:chOff x="0" y="0"/>
            <a:chExt cx="3462528" cy="25847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62528" cy="2584704"/>
            </a:xfrm>
            <a:custGeom>
              <a:avLst/>
              <a:gdLst/>
              <a:ahLst/>
              <a:cxnLst/>
              <a:rect r="r" b="b" t="t" l="l"/>
              <a:pathLst>
                <a:path h="258470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775" t="0" r="-4577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462528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Delta TF-IDF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+ 25 Meta-Features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(15,025 total)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82021" y="2589781"/>
            <a:ext cx="233677" cy="50797"/>
            <a:chOff x="0" y="0"/>
            <a:chExt cx="311569" cy="677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3909" y="0"/>
              <a:ext cx="243840" cy="67691"/>
            </a:xfrm>
            <a:custGeom>
              <a:avLst/>
              <a:gdLst/>
              <a:ahLst/>
              <a:cxnLst/>
              <a:rect r="r" b="b" t="t" l="l"/>
              <a:pathLst>
                <a:path h="67691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290304" y="1609344"/>
            <a:ext cx="2779776" cy="2011680"/>
            <a:chOff x="0" y="0"/>
            <a:chExt cx="3706368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063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81744" y="1645920"/>
            <a:ext cx="2596896" cy="1938528"/>
            <a:chOff x="0" y="0"/>
            <a:chExt cx="3462528" cy="25847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62528" cy="2584704"/>
            </a:xfrm>
            <a:custGeom>
              <a:avLst/>
              <a:gdLst/>
              <a:ahLst/>
              <a:cxnLst/>
              <a:rect r="r" b="b" t="t" l="l"/>
              <a:pathLst>
                <a:path h="258470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775" t="0" r="-4577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462528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MaxAbsScaler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44677" y="2589781"/>
            <a:ext cx="233677" cy="50797"/>
            <a:chOff x="0" y="0"/>
            <a:chExt cx="311569" cy="677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3909" y="0"/>
              <a:ext cx="243840" cy="67691"/>
            </a:xfrm>
            <a:custGeom>
              <a:avLst/>
              <a:gdLst/>
              <a:ahLst/>
              <a:cxnLst/>
              <a:rect r="r" b="b" t="t" l="l"/>
              <a:pathLst>
                <a:path h="67691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252960" y="1609344"/>
            <a:ext cx="2779776" cy="2011680"/>
            <a:chOff x="0" y="0"/>
            <a:chExt cx="3706368" cy="2682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063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7A58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4400" y="1645920"/>
            <a:ext cx="2596896" cy="1938528"/>
            <a:chOff x="0" y="0"/>
            <a:chExt cx="3462528" cy="25847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62528" cy="2584704"/>
            </a:xfrm>
            <a:custGeom>
              <a:avLst/>
              <a:gdLst/>
              <a:ahLst/>
              <a:cxnLst/>
              <a:rect r="r" b="b" t="t" l="l"/>
              <a:pathLst>
                <a:path h="258470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775" t="0" r="-4577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462528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SVC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(Sentiment)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007333" y="2589781"/>
            <a:ext cx="233677" cy="50797"/>
            <a:chOff x="0" y="0"/>
            <a:chExt cx="311569" cy="6772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3909" y="0"/>
              <a:ext cx="243840" cy="67691"/>
            </a:xfrm>
            <a:custGeom>
              <a:avLst/>
              <a:gdLst/>
              <a:ahLst/>
              <a:cxnLst/>
              <a:rect r="r" b="b" t="t" l="l"/>
              <a:pathLst>
                <a:path h="67691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215616" y="1609344"/>
            <a:ext cx="2779776" cy="2011680"/>
            <a:chOff x="0" y="0"/>
            <a:chExt cx="3706368" cy="26822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06368" cy="2682240"/>
            </a:xfrm>
            <a:custGeom>
              <a:avLst/>
              <a:gdLst/>
              <a:ahLst/>
              <a:cxnLst/>
              <a:rect r="r" b="b" t="t" l="l"/>
              <a:pathLst>
                <a:path h="2682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5307056" y="1645920"/>
            <a:ext cx="2596896" cy="1938528"/>
            <a:chOff x="0" y="0"/>
            <a:chExt cx="3462528" cy="25847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62528" cy="2584704"/>
            </a:xfrm>
            <a:custGeom>
              <a:avLst/>
              <a:gdLst/>
              <a:ahLst/>
              <a:cxnLst/>
              <a:rect r="r" b="b" t="t" l="l"/>
              <a:pathLst>
                <a:path h="2584704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2584704"/>
                  </a:lnTo>
                  <a:lnTo>
                    <a:pt x="0" y="2584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775" t="0" r="-4577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462528" cy="2622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(Rating)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02336" y="3986784"/>
            <a:ext cx="8686800" cy="1975104"/>
            <a:chOff x="0" y="0"/>
            <a:chExt cx="11582400" cy="263347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5824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2E86C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85216" y="4059936"/>
            <a:ext cx="8321040" cy="557138"/>
            <a:chOff x="0" y="0"/>
            <a:chExt cx="11094720" cy="7428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94720" cy="742850"/>
            </a:xfrm>
            <a:custGeom>
              <a:avLst/>
              <a:gdLst/>
              <a:ahLst/>
              <a:cxnLst/>
              <a:rect r="r" b="b" t="t" l="l"/>
              <a:pathLst>
                <a:path h="74285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778" r="0" b="-24025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109472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Sentiment Analysis - Linear SVC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85216" y="4608576"/>
            <a:ext cx="8321040" cy="1243584"/>
            <a:chOff x="0" y="0"/>
            <a:chExt cx="11094720" cy="165811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0947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377" r="0" b="-8037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10947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- 95.31%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Macro-F1 - 0.6439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46336" y="3986784"/>
            <a:ext cx="8686800" cy="1975104"/>
            <a:chOff x="0" y="0"/>
            <a:chExt cx="11582400" cy="26334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582400" cy="2633472"/>
            </a:xfrm>
            <a:custGeom>
              <a:avLst/>
              <a:gdLst/>
              <a:ahLst/>
              <a:cxnLst/>
              <a:rect r="r" b="b" t="t" l="l"/>
              <a:pathLst>
                <a:path h="2633472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7A58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729216" y="4059936"/>
            <a:ext cx="8321040" cy="581117"/>
            <a:chOff x="0" y="0"/>
            <a:chExt cx="11094720" cy="7748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094720" cy="774823"/>
            </a:xfrm>
            <a:custGeom>
              <a:avLst/>
              <a:gdLst/>
              <a:ahLst/>
              <a:cxnLst/>
              <a:rect r="r" b="b" t="t" l="l"/>
              <a:pathLst>
                <a:path h="774823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74823"/>
                  </a:lnTo>
                  <a:lnTo>
                    <a:pt x="0" y="7748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01" r="0" b="-22621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1094720" cy="8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(XGBoost)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29216" y="4608576"/>
            <a:ext cx="8321040" cy="1243584"/>
            <a:chOff x="0" y="0"/>
            <a:chExt cx="11094720" cy="165811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947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377" r="0" b="-8037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10947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±0.5★ Accuracy 79.4%</a:t>
              </a:r>
            </a:p>
            <a:p>
              <a:pPr algn="ctr">
                <a:lnSpc>
                  <a:spcPts val="3239"/>
                </a:lnSpc>
              </a:pPr>
              <a:r>
                <a:rPr lang="en-US" sz="2699">
                  <a:solidFill>
                    <a:srgbClr val="DDEE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RMSE = 0.56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02336" y="6291072"/>
            <a:ext cx="17647920" cy="3200400"/>
            <a:chOff x="0" y="0"/>
            <a:chExt cx="23530560" cy="4267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3530561" cy="4267200"/>
            </a:xfrm>
            <a:custGeom>
              <a:avLst/>
              <a:gdLst/>
              <a:ahLst/>
              <a:cxnLst/>
              <a:rect r="r" b="b" t="t" l="l"/>
              <a:pathLst>
                <a:path h="4267200" w="23530561">
                  <a:moveTo>
                    <a:pt x="0" y="0"/>
                  </a:moveTo>
                  <a:lnTo>
                    <a:pt x="23530561" y="0"/>
                  </a:lnTo>
                  <a:lnTo>
                    <a:pt x="23530561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446" r="0" b="-5744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23825"/>
              <a:ext cx="23530560" cy="439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0F1D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 The key technical contribution is fusing sparse Delta TF-IDF (15,000 features) with 25 meta-features(in linearSVC).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0F1D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 Linear SVC delivers the best balance of performance, interpretability, and efficiency for sentiment classification.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0F1D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 XGBoost outperforms linear regression by capturing non-linear interactions between text signals and metadata.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0F1D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 Neutral class remains the hardest label to classify due to ambiguity.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774827"/>
            <a:ext cx="16459200" cy="2737346"/>
            <a:chOff x="0" y="0"/>
            <a:chExt cx="21945600" cy="3649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3649795"/>
            </a:xfrm>
            <a:custGeom>
              <a:avLst/>
              <a:gdLst/>
              <a:ahLst/>
              <a:cxnLst/>
              <a:rect r="r" b="b" t="t" l="l"/>
              <a:pathLst>
                <a:path h="364979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49795"/>
                  </a:lnTo>
                  <a:lnTo>
                    <a:pt x="0" y="3649795"/>
                  </a:lnTo>
                  <a:close/>
                </a:path>
              </a:pathLst>
            </a:custGeom>
            <a:solidFill>
              <a:srgbClr val="1B3A6B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95275"/>
              <a:ext cx="21945600" cy="3945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18"/>
                </a:lnSpc>
              </a:pPr>
              <a:r>
                <a:rPr lang="en-US" sz="135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692640"/>
            <a:ext cx="16459200" cy="512064"/>
            <a:chOff x="0" y="0"/>
            <a:chExt cx="2194560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7FB3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11  ·  Sentiment Analysis &amp; Rating Prediction  ·  IIT Dharwad  ·  April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DAHHCAW8Jb0</dc:identifier>
  <dcterms:modified xsi:type="dcterms:W3CDTF">2011-08-01T06:04:30Z</dcterms:modified>
  <cp:revision>1</cp:revision>
  <dc:title>Team11_Sentiment_Presentation.pptx</dc:title>
</cp:coreProperties>
</file>